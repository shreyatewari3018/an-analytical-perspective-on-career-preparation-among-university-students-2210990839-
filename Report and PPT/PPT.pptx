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70" r:id="rId6"/>
    <p:sldId id="259" r:id="rId7"/>
    <p:sldId id="271" r:id="rId8"/>
    <p:sldId id="272" r:id="rId9"/>
    <p:sldId id="260" r:id="rId10"/>
    <p:sldId id="273" r:id="rId11"/>
    <p:sldId id="269" r:id="rId12"/>
    <p:sldId id="274" r:id="rId13"/>
    <p:sldId id="264" r:id="rId14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62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152575"/>
            <a:ext cx="9033163" cy="4135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Analytical Perspective on Career Preparation Among University Students</a:t>
            </a:r>
            <a:endParaRPr lang="en-US" sz="32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By </a:t>
            </a:r>
            <a:endParaRPr sz="2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734945" marR="2727325" lvl="0" algn="ctr">
              <a:lnSpc>
                <a:spcPct val="101200"/>
              </a:lnSpc>
              <a:spcBef>
                <a:spcPts val="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Preeti Saini</a:t>
            </a: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284545" y="6091004"/>
            <a:ext cx="7103745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65325" y="3009672"/>
            <a:ext cx="38074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 Tewari (2210990839)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235137" y="109377"/>
            <a:ext cx="5266712" cy="537306"/>
          </a:xfr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59" name="Google Shape;59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lvl="0"/>
            <a:r>
              <a:rPr lang="en-US"/>
              <a:t>2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5A5AB71-5E26-8649-800D-C34AFD117AF4}"/>
              </a:ext>
            </a:extLst>
          </p:cNvPr>
          <p:cNvSpPr txBox="1">
            <a:spLocks/>
          </p:cNvSpPr>
          <p:nvPr/>
        </p:nvSpPr>
        <p:spPr>
          <a:xfrm>
            <a:off x="235136" y="11597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preparation plays an important role in helping students transition from academics to professional life.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students believe they are ready for jobs, but employers often observe a lack of required skills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creates a gap between student confidence and actual employability.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Colleges provide training, internships, and placement support to improve readiness.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study aims to analyze how effective these efforts are in preparing students for careers.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78E9-AC64-C38C-6C8E-E3FC4CAF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109377"/>
            <a:ext cx="5372640" cy="523220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3CAB3E-6D9C-CE40-D62E-8F69241475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8295" y="2071089"/>
            <a:ext cx="74145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363549A-7F33-6B44-6863-60C06D9A4EBD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 level of career preparation among university students.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relationship between institutional support and job confidence.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the key factors affecting employability.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apply statistical methods for meaningful analysis.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Career Readiness Score (CRS) model for measuring readiness. </a:t>
            </a:r>
          </a:p>
        </p:txBody>
      </p:sp>
    </p:spTree>
    <p:extLst>
      <p:ext uri="{BB962C8B-B14F-4D97-AF65-F5344CB8AC3E}">
        <p14:creationId xmlns:p14="http://schemas.microsoft.com/office/powerpoint/2010/main" val="188946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255588" y="122238"/>
            <a:ext cx="3570287" cy="690562"/>
          </a:xfr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lvl="0"/>
            <a:r>
              <a:rPr lang="en-US" dirty="0"/>
              <a:t>Problem Statement</a:t>
            </a:r>
          </a:p>
        </p:txBody>
      </p:sp>
      <p:sp>
        <p:nvSpPr>
          <p:cNvPr id="66" name="Google Shape;66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lvl="0"/>
            <a:r>
              <a:rPr lang="en-US"/>
              <a:t>2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35C3905E-A194-EBC6-70CB-07E6D564D2B9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noticeable gap between academic learning and industry requirements.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lack practical skills needed for employment.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and access to career support services vary among students.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students receive equal opportunities like internships or mock interviews.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necessary to identify the factors that influence career readiness.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3B9A-F51C-7D9E-9421-F4B67CDF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09377"/>
            <a:ext cx="5197048" cy="523220"/>
          </a:xfrm>
        </p:spPr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34BAEA0-6D90-1643-6DE9-5D2BAB06584A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focus mainly on the employer’s perspective rather than student experiences.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studies rely only on descriptive analysis without using advanced statistical methods.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research based on primary data collected directly from students.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studies combine survey data with statistical techniques like correlation and regression.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 structured model to quantitatively measure career readiness.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52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73" name="Google Shape;73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SzPts val="2100"/>
            </a:pPr>
            <a:endParaRPr lang="en-US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4BEFD-D9F7-342D-79FF-EFF9F785CCA7}"/>
              </a:ext>
            </a:extLst>
          </p:cNvPr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4B9E53B-C7AE-FF80-CBF4-8B2900308FE3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using a structured survey through Google Forms.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169 valid responses were recorded from university students.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was divided into four sections covering different aspects of preparation.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was performed using Python programming.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statistical analysis were used to interpret the results.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EC89-8779-B3BD-37CD-B93B540C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1" y="109377"/>
            <a:ext cx="5209748" cy="523220"/>
          </a:xfrm>
        </p:spPr>
        <p:txBody>
          <a:bodyPr/>
          <a:lstStyle/>
          <a:p>
            <a:r>
              <a:rPr lang="en-IN" dirty="0"/>
              <a:t>Survey Overview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BFFB31A-2CB5-0325-2743-5D91F012186C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was collected using a structured questionnaire through Google Forms.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total of 169 valid responses were obtained from university students.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survey was conducted between January 2025 and April 2026.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questionnaire was divided into four sections covering different aspects of career preparation.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responses were recorded and organized for statistical analysis and visualization.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075B-47F2-87F2-2202-D7857E0F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1" y="109377"/>
            <a:ext cx="5184348" cy="523220"/>
          </a:xfrm>
        </p:spPr>
        <p:txBody>
          <a:bodyPr/>
          <a:lstStyle/>
          <a:p>
            <a:r>
              <a:rPr lang="en-IN" dirty="0"/>
              <a:t>Data Analysis Techniques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3972340-3B1D-0D69-7889-747E6C7A3AE9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 was used to identify relationships between categorical variables.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was used to measure the strength of relationships between factors.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was used to predict job confidence based on training effectiveness.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like matplotlib,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analysis and visualization.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helped in generating accurate and meaningful insights from the data.</a:t>
            </a:r>
          </a:p>
        </p:txBody>
      </p:sp>
    </p:spTree>
    <p:extLst>
      <p:ext uri="{BB962C8B-B14F-4D97-AF65-F5344CB8AC3E}">
        <p14:creationId xmlns:p14="http://schemas.microsoft.com/office/powerpoint/2010/main" val="402511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9ac019662_0_1"/>
          <p:cNvSpPr txBox="1">
            <a:spLocks noGrp="1"/>
          </p:cNvSpPr>
          <p:nvPr>
            <p:ph type="title"/>
          </p:nvPr>
        </p:nvSpPr>
        <p:spPr>
          <a:xfrm>
            <a:off x="99392" y="181802"/>
            <a:ext cx="6156996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&amp; Discussion</a:t>
            </a:r>
            <a:endParaRPr dirty="0"/>
          </a:p>
        </p:txBody>
      </p:sp>
      <p:sp>
        <p:nvSpPr>
          <p:cNvPr id="80" name="Google Shape;80;g319ac019662_0_1"/>
          <p:cNvSpPr txBox="1">
            <a:spLocks noGrp="1"/>
          </p:cNvSpPr>
          <p:nvPr>
            <p:ph type="body" idx="1"/>
          </p:nvPr>
        </p:nvSpPr>
        <p:spPr>
          <a:xfrm flipH="1">
            <a:off x="9605818" y="7269481"/>
            <a:ext cx="1098332" cy="4571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6DDD0A7-38D4-AA94-FED4-1EBA164FD4DB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effectiveness was found to be the strongest predictor of job confidence.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relationship exists between institutional support and student readiness.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access to mock interviews showed higher confidence levels.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key factors such as training, workshops, and guidance were positively correlated.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number of students identified lack of skills as a major challenge.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E054-1C6F-2713-13B0-4FFFFD9E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109377"/>
            <a:ext cx="5298648" cy="523220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793568FB-7B20-6585-6FAF-201CA200C894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effectiveness has the highest impact on student job confidence.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relationships exist between institutional support and career readiness.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access to mock interviews show higher confidence levels.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is the most significant barrier to employment for students.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86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2F8F-47D9-0DC1-143F-DD694A2F8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109377"/>
            <a:ext cx="5084405" cy="523220"/>
          </a:xfrm>
        </p:spPr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10DA243-7008-0E0C-E628-A93F6714A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48672"/>
            <a:ext cx="77226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C1CB069-C40A-28F4-7DC4-5CCBD393927D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readiness depends on multiple factors including training, skills, and guidance.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quality has the highest impact on student job confidence.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support plays a crucial role in improving employability.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remains the biggest barrier for students entering the workforce.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CRS model provides a structured way to measure and evaluate readiness.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58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5568-7544-C75B-76C5-9664F928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1" y="109377"/>
            <a:ext cx="5247848" cy="523220"/>
          </a:xfrm>
        </p:spPr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742F3EE0-E315-553E-B8A0-2AE29345C01F}"/>
              </a:ext>
            </a:extLst>
          </p:cNvPr>
          <p:cNvSpPr txBox="1">
            <a:spLocks/>
          </p:cNvSpPr>
          <p:nvPr/>
        </p:nvSpPr>
        <p:spPr>
          <a:xfrm>
            <a:off x="129209" y="1070815"/>
            <a:ext cx="8952230" cy="4308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is based on a sample size of 169 students, which may limit generalization.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based on self-reported responses, which may include bias.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focuses mainly on students from a single institutional context.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Percentage-based reconstruction of data was used instead of raw dataset processing.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 like economic conditions and job market trends were not considered.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45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br>
              <a:rPr lang="en-US" sz="5750"/>
            </a:br>
            <a:br>
              <a:rPr lang="en-US" sz="5750"/>
            </a:br>
            <a:br>
              <a:rPr lang="en-US" sz="5750"/>
            </a:br>
            <a:endParaRPr sz="5750"/>
          </a:p>
        </p:txBody>
      </p:sp>
      <p:sp>
        <p:nvSpPr>
          <p:cNvPr id="106" name="Google Shape;106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yritsolution</Template>
  <TotalTime>131</TotalTime>
  <Words>736</Words>
  <Application>Microsoft Office PowerPoint</Application>
  <PresentationFormat>Custom</PresentationFormat>
  <Paragraphs>87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Trebuchet MS</vt:lpstr>
      <vt:lpstr>Office Theme</vt:lpstr>
      <vt:lpstr>PowerPoint Presentation</vt:lpstr>
      <vt:lpstr>Introduction</vt:lpstr>
      <vt:lpstr>Objective</vt:lpstr>
      <vt:lpstr>Problem Statement</vt:lpstr>
      <vt:lpstr>Research Gap</vt:lpstr>
      <vt:lpstr>Methodology</vt:lpstr>
      <vt:lpstr>Survey Overview</vt:lpstr>
      <vt:lpstr>Data Analysis Techniques</vt:lpstr>
      <vt:lpstr>Results &amp; Discussion</vt:lpstr>
      <vt:lpstr>Key Insights</vt:lpstr>
      <vt:lpstr>Conclusion</vt:lpstr>
      <vt:lpstr>Limitations</vt:lpstr>
      <vt:lpstr>Thank You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nakul JAIN</dc:creator>
  <cp:lastModifiedBy>Shreya Tewari</cp:lastModifiedBy>
  <cp:revision>10</cp:revision>
  <dcterms:created xsi:type="dcterms:W3CDTF">2026-03-24T19:17:42Z</dcterms:created>
  <dcterms:modified xsi:type="dcterms:W3CDTF">2026-04-27T04:21:51Z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